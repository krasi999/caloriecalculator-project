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73" r:id="rId11"/>
    <p:sldId id="272" r:id="rId12"/>
    <p:sldId id="263" r:id="rId13"/>
    <p:sldId id="264" r:id="rId14"/>
    <p:sldId id="265" r:id="rId15"/>
    <p:sldId id="266" r:id="rId16"/>
    <p:sldId id="271" r:id="rId17"/>
    <p:sldId id="268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  <a:srgbClr val="4DB6AC"/>
    <a:srgbClr val="2D2D44"/>
    <a:srgbClr val="000000"/>
    <a:srgbClr val="2D2D30"/>
    <a:srgbClr val="F5F6FA"/>
    <a:srgbClr val="FFFFFF"/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4DB6AC">
              <a:alpha val="8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CalorieCalculator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Мобилно приложение за проследяване на калории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bg-BG" sz="1300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Проект за освобождаване от изпит</a:t>
            </a:r>
            <a:r>
              <a:rPr lang="en-US" sz="13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.NET MAUI  •  ASP.NET Core  •  PostgreSQL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4114800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4114800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1840" y="4114800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Екип и инструменти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" name="Google Shape;3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Екип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22960" y="2011680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400" b="0" i="0" u="none" strike="noStrike" cap="none" dirty="0" err="1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разработчици</a:t>
            </a:r>
            <a:r>
              <a:rPr lang="en-US" dirty="0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bg-BG" dirty="0" smtClean="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endParaRPr lang="en-US" sz="600" dirty="0" smtClean="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bg-BG" dirty="0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Мартин Георгиев, 121223153, 38 група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bg-BG" sz="1400" b="0" i="0" u="none" strike="noStrike" cap="none" dirty="0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Красимир </a:t>
            </a:r>
            <a:r>
              <a:rPr lang="bg-BG" sz="1400" b="0" i="0" u="none" strike="noStrike" cap="none" dirty="0" err="1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Гушмаков</a:t>
            </a:r>
            <a:r>
              <a:rPr lang="bg-BG" sz="1400" b="0" i="0" u="none" strike="noStrike" cap="none" dirty="0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121223008, 38 група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bg-BG" dirty="0" smtClean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Маргарита Баракова, 121223007, 38 група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GitLab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контрол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версиите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GitFlow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стратегия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4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разклонения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 → develop → feature/*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3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Технологии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120640" y="2011680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.NET MAUI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Мобилно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приложение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(Android)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ASP.NET Core Web API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REST API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комуникация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PostgreSQL (</a:t>
            </a:r>
            <a:r>
              <a:rPr lang="en-US" sz="1400" b="1" i="0" u="none" strike="noStrike" cap="none" dirty="0" err="1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Aiven</a:t>
            </a:r>
            <a:r>
              <a:rPr lang="en-US" sz="1400" b="1" i="0" u="none" strike="noStrike" cap="none" dirty="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Облачна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база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данни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Entity Framework Core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ORM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достъп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данни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Архитектура на приложението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57200" y="1371600"/>
            <a:ext cx="2286000" cy="2560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588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MAUI App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0080" y="25603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Views (XAML)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ViewModels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ApiService (HTTP)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1800" y="2377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2743200" y="28346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HTTP/JSON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566160" y="1371600"/>
            <a:ext cx="2286000" cy="2560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484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Web API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749040" y="25603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MediatR (CQRS)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Services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Repository Pattern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0760" y="2377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852160" y="28346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EF Core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675120" y="1371600"/>
            <a:ext cx="2011680" cy="2560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664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667512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PostgreSQL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858000" y="256032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Aiven Cloud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Custom Migrations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 файлове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Проекти в решението: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4572000"/>
            <a:ext cx="1965960" cy="365760"/>
          </a:xfrm>
          <a:prstGeom prst="rect">
            <a:avLst/>
          </a:prstGeom>
          <a:solidFill>
            <a:srgbClr val="4DB6AC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57200" y="4572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CalorieCalculator (MAUI)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606040" y="4572000"/>
            <a:ext cx="1965960" cy="365760"/>
          </a:xfrm>
          <a:prstGeom prst="rect">
            <a:avLst/>
          </a:prstGeom>
          <a:solidFill>
            <a:srgbClr val="4DB6AC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606040" y="4572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CalorieCalculator.API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754880" y="4572000"/>
            <a:ext cx="1965960" cy="365760"/>
          </a:xfrm>
          <a:prstGeom prst="rect">
            <a:avLst/>
          </a:prstGeom>
          <a:solidFill>
            <a:srgbClr val="4DB6AC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754880" y="4572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903720" y="4572000"/>
            <a:ext cx="1965960" cy="365760"/>
          </a:xfrm>
          <a:prstGeom prst="rect">
            <a:avLst/>
          </a:prstGeom>
          <a:solidFill>
            <a:srgbClr val="4DB6AC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903720" y="4572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База данни и миграции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123444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Таблици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22960" y="1920240"/>
            <a:ext cx="32004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Users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потребители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пароли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UserDetails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цялата информация за потребител</a:t>
            </a:r>
            <a:endParaRPr lang="bg-BG" sz="1200" b="0" i="0" u="none" strike="noStrike" cap="none" dirty="0" smtClean="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UserGoals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 цели на потребителя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FoodCategories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категории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храни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FoodProducts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продукти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макроси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CaloriePrograms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дневни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планове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CalorieProgramMeals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ястия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план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MealFoods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храни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ястие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SystemMigrations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история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миграции</a:t>
            </a:r>
            <a:endParaRPr lang="en-US" sz="1200" b="0" i="0" u="none" strike="noStrike" cap="none" dirty="0" smtClean="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200" dirty="0" err="1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PasswordResetCodes</a:t>
            </a:r>
            <a:r>
              <a:rPr lang="en-US" sz="1200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 кодове за възстановяване на пароли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371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553212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Система за миграции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120640" y="1920240"/>
            <a:ext cx="32004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Custom </a:t>
            </a:r>
            <a:r>
              <a:rPr lang="en-US" sz="1300" b="1" i="0" u="none" strike="noStrike" cap="none" dirty="0" err="1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MigrationRunner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SQL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файлове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DataLayer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/Migrations/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334155"/>
              </a:buClr>
              <a:buSzPts val="1200"/>
            </a:pPr>
            <a:r>
              <a:rPr lang="en-US" sz="1200" b="0" i="0" u="none" strike="noStrike" cap="none" dirty="0" err="1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Номенклатура</a:t>
            </a:r>
            <a:r>
              <a:rPr lang="en-US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bg-BG" sz="1200" b="0" i="0" u="none" strike="noStrike" cap="none" dirty="0" smtClean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20260405_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CREATE/ALTER/UPDATE_</a:t>
            </a:r>
            <a:r>
              <a:rPr lang="bg-BG" sz="1200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ИметоНаТаблицата</a:t>
            </a:r>
            <a:r>
              <a:rPr lang="bg-BG" sz="12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dirty="0" err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endParaRPr lang="en-US" sz="1200" dirty="0" smtClean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rgbClr val="334155"/>
              </a:buClr>
              <a:buSzPts val="1200"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Автоматично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изпълнение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старт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API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SystemMigrations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таблица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история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Транзакции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с rollback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грешка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  <a:tabLst>
                <a:tab pos="3052763" algn="l"/>
              </a:tabLst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Repository Pattern &amp; CQRS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IRepository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2296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Единен репозитори за всички модели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Set&lt;T&gt;() / SetNoTracking&lt;T&gt;()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Add / Update / Delete / Save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BeginTransaction()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ExecuteSqlRawAsync()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Includes чрез params string[]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CQRS + MediatR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12064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Разделяне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четене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писане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Commands </a:t>
            </a:r>
            <a:r>
              <a:rPr lang="bg-BG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създаване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обновяване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Queries </a:t>
            </a:r>
            <a:r>
              <a:rPr lang="bg-BG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извличане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данни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Handlers </a:t>
            </a:r>
            <a:r>
              <a:rPr lang="bg-BG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бизнес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логика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IServices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единен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интерфейс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(Repository + Mediator + </a:t>
            </a:r>
            <a:r>
              <a:rPr lang="en-US" sz="1100" b="0" i="1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r>
              <a:rPr lang="en-US" sz="110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Авторизация</a:t>
            </a:r>
            <a:r>
              <a:rPr lang="en-US" sz="3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и </a:t>
            </a: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сигурност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1280160" y="1371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Процес на автентикация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91440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91440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Регистрация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2560320" y="2011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292608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292608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Salt генериране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572000" y="2011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SHA-256 хеширане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583680" y="2011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Запис в БД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" name="Google Shape;11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Сигурност на паролата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822960" y="37490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Уникален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Salt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всеки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потребител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SHA-256 с 10,000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итерации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Паролата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никога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не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се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съхранява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директно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064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548640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Вход в системата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120640" y="37490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Потребител въвежда имейл и парола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API изчислява хеш и сравнява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UserSession съхранява ID локално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Georgia"/>
                <a:ea typeface="Georgia"/>
                <a:cs typeface="Georgia"/>
                <a:sym typeface="Georgia"/>
              </a:rPr>
              <a:t>ISO </a:t>
            </a:r>
            <a:r>
              <a:rPr lang="en-US" sz="3200" b="1" i="0" u="none" strike="noStrike" cap="none" dirty="0" err="1">
                <a:solidFill>
                  <a:schemeClr val="bg1"/>
                </a:solidFill>
                <a:latin typeface="Georgia"/>
                <a:ea typeface="Georgia"/>
                <a:cs typeface="Georgia"/>
                <a:sym typeface="Georgia"/>
              </a:rPr>
              <a:t>валидация</a:t>
            </a:r>
            <a:r>
              <a:rPr lang="en-US" sz="3200" b="1" i="0" u="none" strike="noStrike" cap="none" dirty="0">
                <a:solidFill>
                  <a:schemeClr val="bg1"/>
                </a:solidFill>
                <a:latin typeface="Georgia"/>
                <a:ea typeface="Georgia"/>
                <a:cs typeface="Georgia"/>
                <a:sym typeface="Georgia"/>
              </a:rPr>
              <a:t> и </a:t>
            </a:r>
            <a:r>
              <a:rPr lang="en-US" sz="3200" b="1" i="0" u="none" strike="noStrike" cap="none" dirty="0" err="1">
                <a:solidFill>
                  <a:schemeClr val="bg1"/>
                </a:solidFill>
                <a:latin typeface="Georgia"/>
                <a:ea typeface="Georgia"/>
                <a:cs typeface="Georgia"/>
                <a:sym typeface="Georgia"/>
              </a:rPr>
              <a:t>забравена</a:t>
            </a:r>
            <a:r>
              <a:rPr lang="en-US" sz="3200" b="1" i="0" u="none" strike="noStrike" cap="none" dirty="0">
                <a:solidFill>
                  <a:schemeClr val="bg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>
                <a:solidFill>
                  <a:schemeClr val="bg1"/>
                </a:solidFill>
                <a:latin typeface="Georgia"/>
                <a:ea typeface="Georgia"/>
                <a:cs typeface="Georgia"/>
                <a:sym typeface="Georgia"/>
              </a:rPr>
              <a:t>парола</a:t>
            </a:r>
            <a:endParaRPr sz="3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2D2D44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1280160" y="1371600"/>
            <a:ext cx="464794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ISO/IEC 27001 </a:t>
            </a:r>
            <a:r>
              <a:rPr lang="en-US" sz="18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валидация</a:t>
            </a:r>
            <a:r>
              <a:rPr lang="en-US" sz="18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8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на</a:t>
            </a:r>
            <a:r>
              <a:rPr lang="en-US" sz="18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8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пароли</a:t>
            </a:r>
            <a:endParaRPr sz="1800" b="0" i="0" u="none" strike="noStrike" cap="none" dirty="0">
              <a:solidFill>
                <a:srgbClr val="4DB6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91440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91440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Минимум 8 символа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2560320" y="2011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292608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292608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Главна буква (A-Z)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572000" y="2011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Малка буква + цифра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583680" y="2011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Спец. символ (!@#$)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2D2D44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" name="Google Shape;117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lang="en-US" sz="14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Забравена</a:t>
            </a:r>
            <a:r>
              <a:rPr lang="en-US" sz="14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4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парола</a:t>
            </a:r>
            <a:r>
              <a:rPr lang="en-US" sz="14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 (3 </a:t>
            </a:r>
            <a:r>
              <a:rPr lang="en-US" sz="14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стъпки</a:t>
            </a:r>
            <a:r>
              <a:rPr lang="en-US" sz="14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1400" b="0" i="0" u="none" strike="noStrike" cap="none" dirty="0">
              <a:solidFill>
                <a:srgbClr val="4DB6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77240" y="3824982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Стъпка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1: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Въвеждане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имейл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получаване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6-цифрен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код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Стъпка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2: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Въвеждане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код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с auto-focus и 5-мин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таймер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Стъпка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3: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Задаване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нова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парола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с ISO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валидация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2D2D44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548640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lang="en-US" sz="14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Допълнителни</a:t>
            </a:r>
            <a:r>
              <a:rPr lang="en-US" sz="1400" b="1" i="0" u="none" strike="noStrike" cap="none" dirty="0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400" b="1" i="0" u="none" strike="noStrike" cap="none" dirty="0" err="1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валидации</a:t>
            </a:r>
            <a:endParaRPr sz="1400" b="0" i="0" u="none" strike="noStrike" cap="none" dirty="0">
              <a:solidFill>
                <a:srgbClr val="4DB6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120640" y="37490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Имейлът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трябва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съдържа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само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малки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букви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Реално-времеви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зелени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индикатори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Кодовете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пазят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PasswordResetCodes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таблицата</a:t>
            </a:r>
            <a:endParaRPr sz="1200" b="0" i="0" u="none" strike="noStrike" cap="none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Потребителски</a:t>
            </a:r>
            <a:r>
              <a:rPr lang="en-US" sz="32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профил</a:t>
            </a:r>
            <a:endParaRPr sz="3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800"/>
              <a:buFont typeface="Georgia"/>
              <a:buNone/>
            </a:pPr>
            <a:r>
              <a:rPr lang="en-US" sz="18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UserDetails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22960" y="1920240"/>
            <a:ext cx="32004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bg-BG" dirty="0" smtClean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Псевдоним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Пол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мъж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жена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bg-BG" dirty="0" smtClean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Възраст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Височина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(cm /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ft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Тегло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(kg /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lbs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Ниво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активност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(1-5)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Текуща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цел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отслабване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поддържане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...)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bg-BG" dirty="0" smtClean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Желано</a:t>
            </a:r>
            <a:r>
              <a:rPr lang="en-US" b="0" i="0" u="none" strike="noStrike" cap="none" dirty="0" smtClean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тегло</a:t>
            </a:r>
            <a:endParaRPr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Georgia"/>
              <a:buNone/>
            </a:pPr>
            <a:r>
              <a:rPr lang="en-US" sz="16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Изчисляване</a:t>
            </a:r>
            <a:r>
              <a:rPr lang="en-US" sz="16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6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на</a:t>
            </a:r>
            <a:r>
              <a:rPr lang="en-US" sz="16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6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калории</a:t>
            </a:r>
            <a:endParaRPr sz="16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120640" y="1920240"/>
            <a:ext cx="32004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BMR (Mifflin-St Jeor)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Базален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метаболизъм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TDEE = BMR × </a:t>
            </a:r>
            <a:r>
              <a:rPr lang="en-US" sz="1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Активност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Дневен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разход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енергия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Цел</a:t>
            </a:r>
            <a:r>
              <a:rPr lang="en-US" sz="1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корекция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Отслабване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: −500 kcal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Натрупване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: +300 kcal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Макроси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Протеин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Въглехидрати</a:t>
            </a:r>
            <a:r>
              <a:rPr lang="en-US" sz="11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100" b="0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Мазнини</a:t>
            </a:r>
            <a:endParaRPr sz="1300" b="0" i="0" u="none" strike="noStrike" cap="none" dirty="0">
              <a:solidFill>
                <a:schemeClr val="bg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Профилна страница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Аватар и редактиране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22960" y="1920240"/>
            <a:ext cx="32004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Цветен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аватар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син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розов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пол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Профилна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снимка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чрез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селфи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Редактиране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псевдоним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моливче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Детайли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ръст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тегло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активност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цел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Inline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редактиране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полета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Валидация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тегло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спрямо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цел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Мерни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единици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спрямо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регистрацията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Toggle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биометрия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приложението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6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Камера (MediaPicker)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120640" y="1920240"/>
            <a:ext cx="32004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MAUI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MediaPicker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API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селфи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Само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без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галерия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Per-user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съхранение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снимка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profile_photo_path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_{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userId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Уникално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име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с timestamp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Избягване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MAUI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кеширане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Запазва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се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след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logout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457200" y="412865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Профилна</a:t>
            </a:r>
            <a:r>
              <a:rPr lang="en-US" sz="3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 smtClean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снимка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824346" y="1552819"/>
            <a:ext cx="7550728" cy="265314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1037706" y="1745673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1037706" y="1745673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540626" y="1745673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Натискане</a:t>
            </a:r>
            <a:r>
              <a:rPr lang="en-US" sz="13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3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на</a:t>
            </a:r>
            <a:r>
              <a:rPr lang="en-US" sz="13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3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аватара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3872346" y="17135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Потребителят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натиска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иконката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ProfilePage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037706" y="223474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1540626" y="22164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ActionSheet</a:t>
            </a:r>
            <a:r>
              <a:rPr lang="en-US" sz="13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3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избор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872346" y="22164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Опции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Направи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селфи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или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Премахни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снимката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1037706" y="22347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1037706" y="273766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1037706" y="27376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540626" y="27193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MediaPicker заснемане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872346" y="27193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CapturePhotoAsync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отваря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предната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селфи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037706" y="324058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037706" y="32405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540626" y="32222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Локален запис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872346" y="32222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Снимката се записва в AppData/ с уникално име + timestamp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037706" y="374350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037706" y="37435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540626" y="37252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Preferences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3872346" y="37252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Пътят се пази в profile_photo_path_{userId} (per-user)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Двуфакторна биометрична автентикация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123444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Активиране от профила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234440" y="150876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Toggle бутон → Потвърждение → Fingerprint сканиране → Запис в DB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1234440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Вход с 2FA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234440" y="22402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Имейл + парола (1-ви фактор) → Fingerprint (2-ри фактор) → Вход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123444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Per-user </a:t>
            </a:r>
            <a:r>
              <a:rPr lang="en-US" sz="1400" b="1" i="0" u="none" strike="noStrike" cap="none" dirty="0" err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настройка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234440" y="29718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biometric_enabled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_{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userId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} в Preferences +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IsBiometricEnabled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в Users DB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1234440" y="3429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Технология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234440" y="370332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Plugin.Fingerprint</a:t>
            </a:r>
            <a:r>
              <a:rPr lang="en-US" sz="11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CrossFingerprint.SetCurrentActivityResolver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123444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Сигурност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234440" y="443484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Изключена по подразбиране при регистрация, USE_BIOMETRIC permission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164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0080" y="1303020"/>
            <a:ext cx="422564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6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1" y="2034540"/>
            <a:ext cx="422564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7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454" y="2788920"/>
            <a:ext cx="439189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76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996" y="3503295"/>
            <a:ext cx="433647" cy="375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80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454" y="4243301"/>
            <a:ext cx="437804" cy="383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Главен</a:t>
            </a:r>
            <a:r>
              <a:rPr lang="en-US" sz="3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екран</a:t>
            </a:r>
            <a:r>
              <a:rPr lang="en-US" sz="3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bg-BG" sz="3200" b="1" i="0" u="none" strike="noStrike" cap="none" dirty="0" smtClean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–</a:t>
            </a:r>
            <a:r>
              <a:rPr lang="en-US" sz="3200" b="1" i="0" u="none" strike="noStrike" cap="none" dirty="0" smtClean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калориен</a:t>
            </a:r>
            <a:r>
              <a:rPr lang="en-US" sz="3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план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/>
          <p:nvPr/>
        </p:nvSpPr>
        <p:spPr>
          <a:xfrm>
            <a:off x="1325880" y="1280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Калориен тракер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325880" y="16002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Общо, изядени, оставащи калории с визуален ринг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2148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/>
          <p:nvPr/>
        </p:nvSpPr>
        <p:spPr>
          <a:xfrm>
            <a:off x="1325880" y="2103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4 ястия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1325880" y="24231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Закуска, обяд, вечеря, снакс — създават се при добавяне на храна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0"/>
          <p:cNvSpPr/>
          <p:nvPr/>
        </p:nvSpPr>
        <p:spPr>
          <a:xfrm>
            <a:off x="1325880" y="2926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Макронутриенти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325880" y="32461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Протеин, въглехидрати, мазнини с прогрес бар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60" y="37947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/>
          <p:nvPr/>
        </p:nvSpPr>
        <p:spPr>
          <a:xfrm>
            <a:off x="1325880" y="3749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Навигация по дати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325880" y="40690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Стрелки за преглед на предишни/следващи дни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Управление на храни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/>
          <p:nvPr/>
        </p:nvSpPr>
        <p:spPr>
          <a:xfrm>
            <a:off x="123444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Категории и търсене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234440" y="150876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Йерархична структура: Категория → Продукти → Детайл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2057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/>
          <p:nvPr/>
        </p:nvSpPr>
        <p:spPr>
          <a:xfrm>
            <a:off x="1234440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Създаване на продукт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234440" y="22402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Име, описание, калории, макроси, грамаж, категория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123444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Редактиране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234440" y="29718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Промяна на продукт или грамаж в ястие чрез същия формуляр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520" y="3520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/>
          <p:nvPr/>
        </p:nvSpPr>
        <p:spPr>
          <a:xfrm>
            <a:off x="1234440" y="3429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Изтриване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234440" y="370332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Бързо премахване на храна от ястие без потвърждение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520" y="4251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/>
          <p:nvPr/>
        </p:nvSpPr>
        <p:spPr>
          <a:xfrm>
            <a:off x="123444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Баркод скенер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234440" y="443484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ZXing.Net.Maui + Open Food Facts API за автоматично попълване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Баркод</a:t>
            </a:r>
            <a:r>
              <a:rPr lang="en-US" sz="32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b="1" i="0" u="none" strike="noStrike" cap="none" dirty="0" err="1" smtClean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скенер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822960" y="132588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822960" y="1325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325880" y="1307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Сканиране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3657600" y="1307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Камерата разпознава EAN-13, EAN-8, UPC баркод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822960" y="182880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822960" y="1828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1325880" y="18105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Локална проверка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657600" y="18105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Търсене в FoodProducts.Barcode колона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822960" y="233172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325880" y="23134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Намерен локално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657600" y="23134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Директно към страницата за добавяне в ястие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22960" y="283464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822960" y="28346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325880" y="28163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Не е намерен локално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657600" y="28163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Заявка към Open Food Facts API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22960" y="333756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82296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325880" y="33192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Намерен онлайн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657600" y="33192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Формуляр за създаване с попълнени данни от API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22960" y="3840480"/>
            <a:ext cx="3200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22960" y="3840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325880" y="38221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Запис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3657600" y="3822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Продуктът се записва с баркод за бъдещи сканирания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Калориен календар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3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Функции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82296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Месечен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преглед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навигация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Цветни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индикатори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всеки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ден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00" b="0" i="0" u="none" strike="noStrike" cap="none" dirty="0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Зелен</a:t>
            </a:r>
            <a:r>
              <a:rPr lang="en-US" sz="1100" b="0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100" b="0" i="0" u="none" strike="noStrike" cap="none" dirty="0" smtClean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100" b="0" i="0" u="none" strike="noStrike" cap="none" dirty="0" smtClean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в </a:t>
            </a:r>
            <a:r>
              <a:rPr lang="en-US" sz="1100" b="0" i="0" u="none" strike="noStrike" cap="none" dirty="0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рамките</a:t>
            </a:r>
            <a:r>
              <a:rPr lang="en-US" sz="1100" b="0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100" b="0" i="0" u="none" strike="noStrike" cap="none" dirty="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целта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00" b="0" i="0" u="none" strike="noStrike" cap="none" dirty="0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Червен</a:t>
            </a:r>
            <a:r>
              <a:rPr lang="en-US" sz="1100" b="0" i="0" u="none" strike="noStrike" cap="none" dirty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100" b="0" i="0" u="none" strike="noStrike" cap="none" dirty="0" smtClean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100" b="0" i="0" u="none" strike="noStrike" cap="none" dirty="0" smtClean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превишен</a:t>
            </a:r>
            <a:r>
              <a:rPr lang="en-US" sz="1100" b="0" i="0" u="none" strike="noStrike" cap="none" dirty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dirty="0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лимит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Детайли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избор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ден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Данни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от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CaloriePrograms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API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4DB6AC"/>
                </a:solidFill>
                <a:latin typeface="Georgia"/>
                <a:ea typeface="Georgia"/>
                <a:cs typeface="Georgia"/>
                <a:sym typeface="Georgia"/>
              </a:rPr>
              <a:t>Технически детайли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512064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endpoint: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GET /api/dailyprogram/calendar/{userId}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Параметри: year, month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Връща: дата, цел, изядени калории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CaloriesProgress и IsOverTarget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изчислени на клиента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Използвани хардуерни функции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4DB6AC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1645920" y="1280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Камера</a:t>
            </a:r>
            <a:r>
              <a:rPr lang="en-US" sz="18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(2 </a:t>
            </a:r>
            <a:r>
              <a:rPr lang="en-US" sz="18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функции</a:t>
            </a:r>
            <a:r>
              <a:rPr lang="en-US" sz="18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1645920" y="1691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Задна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ZXing.Net.Maui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баркод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 lang="bg-BG" sz="1300" b="0" i="0" u="none" strike="noStrike" cap="none" dirty="0" smtClean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Предна</a:t>
            </a:r>
            <a:r>
              <a:rPr lang="en-US" sz="13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MediaPicker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селфи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731520" y="2514600"/>
            <a:ext cx="640080" cy="640080"/>
          </a:xfrm>
          <a:prstGeom prst="ellipse">
            <a:avLst/>
          </a:prstGeom>
          <a:solidFill>
            <a:srgbClr val="4DB6AC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807" y="2651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4"/>
          <p:cNvSpPr/>
          <p:nvPr/>
        </p:nvSpPr>
        <p:spPr>
          <a:xfrm>
            <a:off x="1645920" y="24688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Биометричен сензор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1645920" y="2834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Plugin.Fingerprint</a:t>
            </a:r>
            <a:r>
              <a:rPr lang="en-US" sz="13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bg-BG" sz="13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300" b="0" i="0" u="none" strike="noStrike" cap="none" dirty="0" smtClean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2FA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вход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пръстов</a:t>
            </a:r>
            <a:r>
              <a:rPr lang="en-US" sz="13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отпечатък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731520" y="3703320"/>
            <a:ext cx="640080" cy="640080"/>
          </a:xfrm>
          <a:prstGeom prst="ellipse">
            <a:avLst/>
          </a:prstGeom>
          <a:solidFill>
            <a:srgbClr val="4DB6AC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1645920" y="36576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lang="en-US" sz="18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Мрежова</a:t>
            </a:r>
            <a:r>
              <a:rPr lang="en-US" sz="1800" b="1" i="0" u="none" strike="noStrike" cap="none" dirty="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800" b="1" i="0" u="none" strike="noStrike" cap="none" dirty="0" err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свързаност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645920" y="4023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Wi-Fi / 4G — HTTP комуникация с REST API и Aiven PostgreSQL (SSL)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41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807" y="384048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41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807" y="1466504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4DB6AC">
              <a:alpha val="8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Благодарим за вниманието!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CalorieCalculator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Въпроси?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1033</Words>
  <Application>Microsoft Office PowerPoint</Application>
  <PresentationFormat>Презентация на цял екран (16:9)</PresentationFormat>
  <Paragraphs>286</Paragraphs>
  <Slides>17</Slides>
  <Notes>12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cp:lastModifiedBy>Admin</cp:lastModifiedBy>
  <cp:revision>9</cp:revision>
  <dcterms:modified xsi:type="dcterms:W3CDTF">2026-05-01T09:51:21Z</dcterms:modified>
</cp:coreProperties>
</file>